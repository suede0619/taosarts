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COMMON ALTITUDE</a:t>
            </a:r>
          </a:p>
          <a:p/>
          <a:p>
            <a:r>
              <a:t>FOUNDING DISCOVERY UNDERWRITING</a:t>
            </a:r>
          </a:p>
          <a:p>
            <a:r>
              <a:t>A proposed six-week feasibility stage.</a:t>
            </a:r>
          </a:p>
          <a:p/>
          <a:p/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Artist income and public access</a:t>
            </a:r>
          </a:p>
          <a:p/>
          <a:p>
            <a:r>
              <a:t>The proposal measures completed sales, paid creative work and visitor access.</a:t>
            </a:r>
          </a:p>
          <a:p/>
          <a:p>
            <a:r>
              <a:t>Artist income / Completed sales and paid creative work.</a:t>
            </a:r>
          </a:p>
          <a:p>
            <a:r>
              <a:t>Public discovery / Free core exhibitions and paid educators, with access information for visitors.</a:t>
            </a:r>
          </a:p>
          <a:p>
            <a:r>
              <a:t>A credible destination / A Denver visit supported by confirmed work, appointments and transport information.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A $75,000 discovery target</a:t>
            </a:r>
          </a:p>
          <a:p/>
          <a:p>
            <a:r>
              <a:t>The parties may agree to count discovery support once within later sponsorship.</a:t>
            </a:r>
          </a:p>
          <a:p/>
          <a:p>
            <a:r>
              <a:t>$75,000 / Total underwriting target</a:t>
            </a:r>
          </a:p>
          <a:p>
            <a:r>
              <a:t>$70,000 / Defined professional work</a:t>
            </a:r>
          </a:p>
          <a:p>
            <a:r>
              <a:t>$5,000 / Discovery reserve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Discovery deliverables</a:t>
            </a:r>
          </a:p>
          <a:p/>
          <a:p>
            <a:r>
              <a:t>The paid scope tests the site, demand, art offer, costs and finance before an event decision.</a:t>
            </a:r>
          </a:p>
          <a:p/>
          <a:p>
            <a:r>
              <a:t>Site + delivery / Owner/code/producer feasibility and scope alternatives.</a:t>
            </a:r>
          </a:p>
          <a:p>
            <a:r>
              <a:t>Market + art / Qualified buyer research and realistic seller/artist proposition.</a:t>
            </a:r>
          </a:p>
          <a:p>
            <a:r>
              <a:t>Finance + brand / Quote/cash plan, rights/contract issues and a coherent presentation system.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Six-week decision schedule</a:t>
            </a:r>
          </a:p>
          <a:p/>
          <a:p>
            <a:r>
              <a:t>Contracts would define milestones, acceptance and payment.</a:t>
            </a:r>
          </a:p>
          <a:p/>
          <a:p>
            <a:r>
              <a:t>DISCOVER / Access, phasing, professional roles and evidence.</a:t>
            </a:r>
          </a:p>
          <a:p>
            <a:r>
              <a:t>TEST / Audience, creative propositions and commercial fit.</a:t>
            </a:r>
          </a:p>
          <a:p>
            <a:r>
              <a:t>PRICE / Production, cash restrictions and cancellation exposure.</a:t>
            </a:r>
          </a:p>
          <a:p>
            <a:r>
              <a:t>DECIDE / Proceed, resize, relocate or stop.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Event funding targets</a:t>
            </a:r>
          </a:p>
          <a:p/>
          <a:p>
            <a:r>
              <a:t>The core scenario has no funding commitments.</a:t>
            </a:r>
          </a:p>
          <a:p/>
          <a:p>
            <a:r>
              <a:t>$1.25m / Cash sponsorship target</a:t>
            </a:r>
          </a:p>
          <a:p>
            <a:r>
              <a:t>$1,550,000 / Core cost envelope</a:t>
            </a:r>
          </a:p>
          <a:p>
            <a:r>
              <a:t>$600,000 / Facility/backstop ceiling to investigate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Art-sales assumptions</a:t>
            </a:r>
          </a:p>
          <a:p/>
          <a:p>
            <a:r>
              <a:t>Artwork proceeds pay sellers and stay separate from event finance.</a:t>
            </a:r>
          </a:p>
          <a:p/>
          <a:p>
            <a:r>
              <a:t>$3m / Completed art-sales target</a:t>
            </a:r>
          </a:p>
          <a:p>
            <a:r>
              <a:t>150 / Assumed purchasing households</a:t>
            </a:r>
          </a:p>
          <a:p>
            <a:r>
              <a:t>$20,000 / Average completed order assumption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Team and artist pay</a:t>
            </a:r>
          </a:p>
          <a:p/>
          <a:p>
            <a:r>
              <a:t>Budget defined work first. Agree any additional bonus separately.</a:t>
            </a:r>
          </a:p>
          <a:p/>
          <a:p>
            <a:r>
              <a:t>Core delivery / $260,000 later core-team envelope.</a:t>
            </a:r>
          </a:p>
          <a:p>
            <a:r>
              <a:t>Creative contribution / $200,000 artist/program-fee envelope.</a:t>
            </a:r>
          </a:p>
          <a:p>
            <a:r>
              <a:t>Fair terms / Classification, rights, milestones, cancellation and accepted hours.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Owner fit and site limits</a:t>
            </a:r>
          </a:p>
          <a:p/>
          <a:p>
            <a:r>
              <a:t>The fair could support the rental and office project if the owner confirms a usable footprint.</a:t>
            </a:r>
          </a:p>
          <a:p/>
          <a:p>
            <a:r>
              <a:t>Useful activation / Public cultural identity and appropriate qualified interest.</a:t>
            </a:r>
          </a:p>
          <a:p>
            <a:r>
              <a:t>Bounded footprint / Construction, tenants and approved use control the site.</a:t>
            </a:r>
          </a:p>
          <a:p>
            <a:r>
              <a:t>Transparent economics / No undefined share of artwork seller proceeds.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Surplus and preopening cash</a:t>
            </a:r>
          </a:p>
          <a:p/>
          <a:p>
            <a:r>
              <a:t>The model tests unverified income, costs, cash restrictions and reserve assumptions.</a:t>
            </a:r>
          </a:p>
          <a:p/>
          <a:p>
            <a:r>
              <a:t>$1,815,000 / Organizer revenue</a:t>
            </a:r>
          </a:p>
          <a:p>
            <a:r>
              <a:t>$1,550,000 / Cost envelope</a:t>
            </a:r>
          </a:p>
          <a:p>
            <a:r>
              <a:t>$265,000 / Before owner / tax / reserves</a:t>
            </a:r>
          </a:p>
          <a:p>
            <a:r>
              <a:t>$530,000 / Peak preopening bridge sensitivity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Conditions before expansion</a:t>
            </a:r>
          </a:p>
          <a:p/>
          <a:p>
            <a:r>
              <a:t>The base model assumes no public grants or celebrity participation.</a:t>
            </a:r>
          </a:p>
          <a:p/>
          <a:p>
            <a:r>
              <a:t>Evidence gates / Stop/rescope if site, demand or finance fails.</a:t>
            </a:r>
          </a:p>
          <a:p>
            <a:r>
              <a:t>Protected funds / Seller, tax, refund and restricted balances stay protected.</a:t>
            </a:r>
          </a:p>
          <a:p>
            <a:r>
              <a:t>Independent roles / Producer, finance and qualified specialists challenge assumptions.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Project decision dates</a:t>
            </a:r>
          </a:p>
          <a:p/>
          <a:p>
            <a:r>
              <a:t>Project day one is November 1, 2026. Event dates remain proposals.</a:t>
            </a:r>
          </a:p>
          <a:p/>
          <a:p>
            <a:r>
              <a:t>NOV / Funded discovery decision.</a:t>
            </a:r>
          </a:p>
          <a:p>
            <a:r>
              <a:t>DEC–JAN / Site and delivery organization.</a:t>
            </a:r>
          </a:p>
          <a:p>
            <a:r>
              <a:t>MAR / Launch decision on evidence and funding.</a:t>
            </a:r>
          </a:p>
          <a:p>
            <a:r>
              <a:t>AUG / Open only if required conditions pass.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Discovery contract discussion</a:t>
            </a:r>
          </a:p>
          <a:p/>
          <a:p>
            <a:r>
              <a:t>A $75,000 milestone-based agreement would define deliverables, payment and stopping terms.</a:t>
            </a:r>
          </a:p>
          <a:p/>
          <a:p>
            <a:r>
              <a:t>No implied investment return or tax-deductible donation.</a:t>
            </a:r>
          </a:p>
          <a:p>
            <a:r>
              <a:t>No forced launch if feasibility fails.</a:t>
            </a:r>
          </a:p>
          <a:p>
            <a:r>
              <a:t>Later sponsorship credit and recognition only as agreed.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Discovery underwriters, patrons and founding commercial backers</a:t>
            </a:r>
          </a:p>
          <a:p>
            <a:r>
              <a:t>Sources and unresolved terms</a:t>
            </a:r>
          </a:p>
          <a:p/>
          <a:p>
            <a:r>
              <a:t>Research supports context. Demand, costs and commercial terms still need evidence.</a:t>
            </a:r>
          </a:p>
          <a:p/>
          <a:p>
            <a:r>
              <a:t>Reproducible finance, monthly cash, gates and action plan accompany this deck.</a:t>
            </a:r>
          </a:p>
          <a:p>
            <a:r>
              <a:t>Appropriate professional advice determines actual entity, tax and funding treatment.</a:t>
            </a:r>
          </a:p>
          <a:p>
            <a:r>
              <a:t>Creating this deck made no contact or commitment.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uede0619/taosarts/blob/main/Denver/Common-Altitude-2027/RESEARCH.md" TargetMode="Externa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8686800" cy="2926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COMMON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ALTITUDE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00600"/>
            <a:ext cx="8138160" cy="1508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FOUNDING DISCOVERY UNDERWRITING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A proposed six-week feasibility stage.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648205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1648205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99629" y="1648205"/>
            <a:ext cx="94731" cy="237506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05718" y="2561691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00571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4694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005718" y="6120902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5207416"/>
            <a:ext cx="1623974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675120"/>
            <a:ext cx="36576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A6AAA6"/>
                </a:solidFill>
                <a:latin typeface="Arial"/>
              </a:defRPr>
            </a:pPr>
            <a:r>
              <a:t>ORIGINAL CONCEPT GRAPHIC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01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Artist income and public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proposal measures completed sales, paid creative work and visitor access.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Artist income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Completed sales and paid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creative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Public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Free core exhibitions and paid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educators, with access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information for visitors.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 credible destination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 Denver visit supported by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confirmed work, appointments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transport information.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$75,000 discovery target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parties may agree to count discovery support once within later sponsorship.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$75,000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Total underwriting 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$70,000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Defined professional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$5,000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Discovery reserve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Discovery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paid scope tests the site, demand, art offer, costs and finance before an event decision.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Site +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Owner/code/producer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feasibility and scope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alternatives.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Market + 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Qualified buyer research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realistic seller/artist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proposition.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Finance + brand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Quote/cash plan,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rights/contract issues and a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coherent presentation system.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Six-week decision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Contracts would define milestones, acceptance and payment.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DISCOVER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Access, phasing,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professional roles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evidence.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78808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Audience, creative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propositions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commercial fit.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43216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43216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8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Production, cash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restrictions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cancellation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exposure.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07624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707624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63656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63656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Proceed, resize,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relocate or stop.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Event funding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core scenario has no funding commitments.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$1.25m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Cash sponsorship 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$1,550,000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Core cost envelope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$600,000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Facility/backstop ceiling to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investigate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Art-sales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Artwork proceeds pay sellers and stay separate from event finance.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$3m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Completed art-sales 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150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Assumed purchasing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households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$20,000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Average completed order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assumption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Team and artist pay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Budget defined work first. Agree any additional bonus separately.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Core 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$260,000 later core-team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envelope.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Creative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$200,000 artist/program-fee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envelope.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Fair terms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Classification, rights,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milestones, cancellation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accepted hours.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Owner fit and site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fair could support the rental and office project if the owner confirms a usable footprint.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Useful activation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Public cultural identity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appropriate qualified interest.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Bounded footprint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Construction, tenants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approved use control the site.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Transparent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economics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No undefined share of artwork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seller proceeds.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Surplus and preopening cash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model tests unverified income, costs, cash restrictions and reserve assumptions.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12801600" cy="100355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017520"/>
            <a:ext cx="356616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51A22"/>
                </a:solidFill>
                <a:latin typeface="Arial"/>
              </a:defRPr>
            </a:pPr>
            <a:r>
              <a:t>$1,815,000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3017520"/>
            <a:ext cx="832104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Organizer revenue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975354"/>
            <a:ext cx="12801600" cy="100355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139946"/>
            <a:ext cx="356616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51A22"/>
                </a:solidFill>
                <a:latin typeface="Arial"/>
              </a:defRPr>
            </a:pPr>
            <a:r>
              <a:t>$1,550,000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4139946"/>
            <a:ext cx="832104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Cost envelope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097779"/>
            <a:ext cx="12801600" cy="100355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262371"/>
            <a:ext cx="356616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151A22"/>
                </a:solidFill>
                <a:latin typeface="Arial"/>
              </a:defRPr>
            </a:pPr>
            <a:r>
              <a:t>$265,000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262371"/>
            <a:ext cx="832104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Before owner / tax / reserves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6220205"/>
            <a:ext cx="12801600" cy="100355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6384797"/>
            <a:ext cx="356616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DCFF5F"/>
                </a:solidFill>
                <a:latin typeface="Arial"/>
              </a:defRPr>
            </a:pPr>
            <a:r>
              <a:t>$530,000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6384797"/>
            <a:ext cx="8321040" cy="8938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F3F0E9"/>
                </a:solidFill>
                <a:latin typeface="Arial"/>
              </a:defRPr>
            </a:pPr>
            <a:r>
              <a:t>Peak preopening bridge sensitivity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Conditions before expansion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base model assumes no public grants or celebrity participation.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Evidence gates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Stop/rescope if site, demand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or finance fails.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Protected funds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Seller, tax, refund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restricted balances stay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protected.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Independent roles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Producer, finance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qualified specialists challenge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assumptions.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Project decision 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Project day one is November 1, 2026. Event dates remain proposals.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NOV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Funded discovery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decision.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78808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DEC–JAN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Site and delivery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organization.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43216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43216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8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MAR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Launch decision 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evidence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funding.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07624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707624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63656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AUG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63656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Open only if required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conditions pass.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THE NEXT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418320" cy="2011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Discovery contract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50184"/>
            <a:ext cx="9601200" cy="137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A $75,000 milestone-based agreement would define deliverables,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payment and stopping terms.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5958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25958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No implied investment return or tax-deductible donation.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9110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99110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No forced launch if feasibility fails.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72262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572262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Later sponsorship credit and recognition only as agreed.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40253" y="3931920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40253" y="3931920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793268" y="3931920"/>
            <a:ext cx="58792" cy="14740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28178" y="4498848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928178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381194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928178" y="6707767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340253" y="6140839"/>
            <a:ext cx="1007872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DISCOVERY UNDERWRITERS, PATRONS AND FOUNDING COMMERCIAL BACKERS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Sources and unresolved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Research supports context. Demand, costs and commercial terms still need evidence.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1234440" y="2852928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Reproducible finance, monthly cash, gates and action plan accompany this deck.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376928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>
            <a:hlinkClick r:id="rId2"/>
          </p:cNvPr>
          <p:cNvSpPr txBox="1"/>
          <p:nvPr/>
        </p:nvSpPr>
        <p:spPr>
          <a:xfrm>
            <a:off x="1234440" y="4349496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Appropriate professional advice determines actual entity, tax and funding treatment.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873496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2"/>
          </p:cNvPr>
          <p:cNvSpPr txBox="1"/>
          <p:nvPr/>
        </p:nvSpPr>
        <p:spPr>
          <a:xfrm>
            <a:off x="1234440" y="5846063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Creating this deck made no contact or commitment.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COMMON ALTITUDE. Discovery underwriters, patrons and founding commercial backers</dc:title>
  <dc:subject>Conditional proposal for review, October 24 2026</dc:subject>
  <dc:creator>Common Altitude planning</dc:creator>
  <cp:keywords/>
  <dc:description>generated using python-pptx</dc:description>
  <cp:lastModifiedBy>Common Altitude planning</cp:lastModifiedBy>
  <cp:revision>1</cp:revision>
  <dcterms:created xsi:type="dcterms:W3CDTF">2013-01-27T09:14:16Z</dcterms:created>
  <dcterms:modified xsi:type="dcterms:W3CDTF">2013-01-27T09:15:58Z</dcterms:modified>
  <cp:category/>
</cp:coreProperties>
</file>