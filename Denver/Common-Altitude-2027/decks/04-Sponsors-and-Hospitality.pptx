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COMMON ALTITUDE</a:t>
            </a:r>
          </a:p>
          <a:p/>
          <a:p>
            <a:r>
              <a:t>SPONSORSHIP AND DESTINATION PARTNERSHIPS</a:t>
            </a:r>
          </a:p>
          <a:p>
            <a:r>
              <a:t>A proposed Denver art fair and public program.</a:t>
            </a:r>
          </a:p>
          <a:p/>
          <a:p/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Three audience groups</a:t>
            </a:r>
          </a:p>
          <a:p/>
          <a:p>
            <a:r>
              <a:t>The proposal serves collectors, residents and artists. Audience sizes remain targets.</a:t>
            </a:r>
          </a:p>
          <a:p/>
          <a:p>
            <a:r>
              <a:t>Collectors + advisers / Qualified relationships and thoughtful acquisition service.</a:t>
            </a:r>
          </a:p>
          <a:p>
            <a:r>
              <a:t>Residents + first buyers / Free core art discovery and intelligible participation.</a:t>
            </a:r>
          </a:p>
          <a:p>
            <a:r>
              <a:t>Creative community / Fees for artists, teaching and public programs.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Audience targets</a:t>
            </a:r>
          </a:p>
          <a:p/>
          <a:p>
            <a:r>
              <a:t>The project has no measured event audience to offer sponsors.</a:t>
            </a:r>
          </a:p>
          <a:p/>
          <a:p>
            <a:r>
              <a:t>12,000 / Unique visitor target</a:t>
            </a:r>
          </a:p>
          <a:p>
            <a:r>
              <a:t>600 / Qualified collector-household target</a:t>
            </a:r>
          </a:p>
          <a:p>
            <a:r>
              <a:t>5 / Public art days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Program sponsorship options</a:t>
            </a:r>
          </a:p>
          <a:p/>
          <a:p>
            <a:r>
              <a:t>Price each activity and obtain site, artist and rights approval before offering it.</a:t>
            </a:r>
          </a:p>
          <a:p/>
          <a:p>
            <a:r>
              <a:t>Public access + learning / Pay educators, interpretation and an excellent welcome.</a:t>
            </a:r>
          </a:p>
          <a:p>
            <a:r>
              <a:t>Artist work / Fund artist-authored commissions and credible context.</a:t>
            </a:r>
          </a:p>
          <a:p>
            <a:r>
              <a:t>Collecting + hospitality / Useful approved client visits and informed conversations.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Sponsorship packages</a:t>
            </a:r>
          </a:p>
          <a:p/>
          <a:p>
            <a:r>
              <a:t>The $1.25m target assumes sales of these proposed packages. No sponsor has bought one.</a:t>
            </a:r>
          </a:p>
          <a:p/>
          <a:p>
            <a:r>
              <a:t>1 × $400k / Presenting underwriting</a:t>
            </a:r>
          </a:p>
          <a:p>
            <a:r>
              <a:t>2 × $200k / Lead program underwriting</a:t>
            </a:r>
          </a:p>
          <a:p>
            <a:r>
              <a:t>4 × $75k / Program partnerships</a:t>
            </a:r>
          </a:p>
          <a:p>
            <a:r>
              <a:t>10 × $15k / Supporting partnerships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Contracted benefits and evidence</a:t>
            </a:r>
          </a:p>
          <a:p/>
          <a:p>
            <a:r>
              <a:t>Assign a responsible person, cost, rights, capacity and delivery measure to each benefit.</a:t>
            </a:r>
          </a:p>
          <a:p/>
          <a:p>
            <a:r>
              <a:t>Association / Approved naming/credit and appropriate content.</a:t>
            </a:r>
          </a:p>
          <a:p>
            <a:r>
              <a:t>Experience / Scoped client/public program and licensed hospitality.</a:t>
            </a:r>
          </a:p>
          <a:p>
            <a:r>
              <a:t>Evidence / Verified delivery and consented aggregate reporting.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Editorial independence and privacy</a:t>
            </a:r>
          </a:p>
          <a:p/>
          <a:p>
            <a:r>
              <a:t>Sponsor terms must protect artist selection, image rights and visitor information.</a:t>
            </a:r>
          </a:p>
          <a:p/>
          <a:p>
            <a:r>
              <a:t>No bought curation / Sponsors do not purchase artist selection.</a:t>
            </a:r>
          </a:p>
          <a:p>
            <a:r>
              <a:t>No borrowed fame / Artist images, marks and participation need permission.</a:t>
            </a:r>
          </a:p>
          <a:p>
            <a:r>
              <a:t>No visitor-list sale / Privacy and consent control relationship information.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Proposed event week</a:t>
            </a:r>
          </a:p>
          <a:p/>
          <a:p>
            <a:r>
              <a:t>August 9–15, 2027 remains unbooked. The program and site need approval.</a:t>
            </a:r>
          </a:p>
          <a:p/>
          <a:p>
            <a:r>
              <a:t>PREVIEW / Adviser, artist, press and partner attention.</a:t>
            </a:r>
          </a:p>
          <a:p>
            <a:r>
              <a:t>PUBLIC / Free art, making, conversation and guided options.</a:t>
            </a:r>
          </a:p>
          <a:p>
            <a:r>
              <a:t>AFTER / Seller fulfillment, sponsor evidence and qualified follow-up.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Sponsor reporting</a:t>
            </a:r>
          </a:p>
          <a:p/>
          <a:p>
            <a:r>
              <a:t>Report actual delivery, participation and artist outcomes against the contract.</a:t>
            </a:r>
          </a:p>
          <a:p/>
          <a:p>
            <a:r>
              <a:t>Delivery / Actual rights/program fulfillment and service quality.</a:t>
            </a:r>
          </a:p>
          <a:p>
            <a:r>
              <a:t>Participation / Entries, estimated unique visitors and program use, with methods.</a:t>
            </a:r>
          </a:p>
          <a:p>
            <a:r>
              <a:t>Artist outcomes / Paid work, completed sales and cleared aggregate seller outcomes.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Discovery support</a:t>
            </a:r>
          </a:p>
          <a:p/>
          <a:p>
            <a:r>
              <a:t>A contract may count discovery support once toward a later sponsorship package.</a:t>
            </a:r>
          </a:p>
          <a:p/>
          <a:p>
            <a:r>
              <a:t>$75,000 / Paid discovery target</a:t>
            </a:r>
          </a:p>
          <a:p>
            <a:r>
              <a:t>6 weeks / Proposed evidence stage</a:t>
            </a:r>
          </a:p>
          <a:p>
            <a:r>
              <a:t>G3 / Public launch only after funding/site evidence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Commercial terms</a:t>
            </a:r>
          </a:p>
          <a:p/>
          <a:p>
            <a:r>
              <a:t>Each partnership needs payment, cancellation, exclusivity, rights and approval terms.</a:t>
            </a:r>
          </a:p>
          <a:p/>
          <a:p>
            <a:r>
              <a:t>Terms / Cash schedule, cancellation, exclusivity and approved rights.</a:t>
            </a:r>
          </a:p>
          <a:p>
            <a:r>
              <a:t>Cost / Price and fund each program and hospitality benefit.</a:t>
            </a:r>
          </a:p>
          <a:p>
            <a:r>
              <a:t>Approval / Obtain owner, artist and specialist permissions.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Partnership discussion</a:t>
            </a:r>
          </a:p>
          <a:p/>
          <a:p>
            <a:r>
              <a:t>Identify the sponsor’s objective and a specific program it can fund.</a:t>
            </a:r>
          </a:p>
          <a:p/>
          <a:p>
            <a:r>
              <a:t>Agree the audience and useful outcome.</a:t>
            </a:r>
          </a:p>
          <a:p>
            <a:r>
              <a:t>Scope rights, cost and delivery evidence.</a:t>
            </a:r>
          </a:p>
          <a:p>
            <a:r>
              <a:t>Commit only after the required site and funding gates.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Commercial sponsors, hospitality and destination partners</a:t>
            </a:r>
          </a:p>
          <a:p>
            <a:r>
              <a:t>Sources and open assumptions</a:t>
            </a:r>
          </a:p>
          <a:p/>
          <a:p>
            <a:r>
              <a:t>No sponsor, hospitality partner or artist has accepted participation.</a:t>
            </a:r>
          </a:p>
          <a:p/>
          <a:p>
            <a:r>
              <a:t>Package prices and audience targets are original unvalidated assumptions.</a:t>
            </a:r>
          </a:p>
          <a:p>
            <a:r>
              <a:t>Primary research, business plan, marketing plan and cash model accompany the deck.</a:t>
            </a:r>
          </a:p>
          <a:p>
            <a:r>
              <a:t>Approved images/marks and actual agreement details belong in the release copy.</a:t>
            </a:r>
          </a:p>
          <a:p/>
          <a:p>
            <a:r>
              <a:t>Status: working proposal. Site, dates, partners, funding and capacity need confirmation. The deck grants no external-action authority.</a:t>
            </a:r>
          </a:p>
          <a:p>
            <a:r>
              <a:t>Financial source: data/project.json and generated financial-results.json.</a:t>
            </a:r>
          </a:p>
          <a:p>
            <a:r>
              <a:t>Primary venue reference: https://www.denverenergycenter.com/home</a:t>
            </a:r>
          </a:p>
          <a:p>
            <a:r>
              <a:t>Program/market/rights sources and individual candidate evidence: RESEARCH.md in the accompanying package.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Suede0619/taosarts/blob/main/Denver/Common-Altitude-2027/RESEARCH.md" TargetMode="Externa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17320"/>
            <a:ext cx="8686800" cy="2926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COMMON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8000" b="1">
                <a:solidFill>
                  <a:srgbClr val="F3F0E9"/>
                </a:solidFill>
                <a:latin typeface="Arial"/>
              </a:defRPr>
            </a:pPr>
            <a:r>
              <a:t>ALTITUDE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800600"/>
            <a:ext cx="8138160" cy="15087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SPONSORSHIP AND DESTINATION PARTNERSHIPS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A proposed Denver art fair and public program.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58400" y="1648205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1648205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2399629" y="1648205"/>
            <a:ext cx="94731" cy="237506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005718" y="2561691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00571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346948" y="2561691"/>
            <a:ext cx="94731" cy="365394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005718" y="6120902"/>
            <a:ext cx="2435961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5207416"/>
            <a:ext cx="1623974" cy="94731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60" y="6675120"/>
            <a:ext cx="3657600" cy="4114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1">
                <a:solidFill>
                  <a:srgbClr val="A6AAA6"/>
                </a:solidFill>
                <a:latin typeface="Arial"/>
              </a:defRPr>
            </a:pPr>
            <a:r>
              <a:t>ORIGINAL CONCEPT GRAPHIC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01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Three audience groups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proposal serves collectors, residents and artists. Audience sizes remain targets.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Collectors + advisers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Qualified relationships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thoughtful acquisition service.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Residents + first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buyers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core art discovery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intelligible participation.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Creative 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Fees for artists, teaching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public programs.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Audience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project has no measured event audience to offer sponsors.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12,000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Unique visitor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600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Qualified collector-household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target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Public art days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Program sponsorship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Price each activity and obtain site, artist and rights approval before offering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 access +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Pay educators, interpretation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an excellent welcome.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Artist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Fund artist-authored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commissions and credible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context.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Collecting +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hospitality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Useful approved client visits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informed conversations.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Sponsorship packages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The $1.25m target assumes sales of these proposed packages. No sponsor has bought 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1 × $400k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Presenting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underwriting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178808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78808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2 × $200k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Lead program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underwriting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43216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43216" y="2852928"/>
            <a:ext cx="3008376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99248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4 × $75k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99248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Program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partnerships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707624" y="2852928"/>
            <a:ext cx="3008376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707624" y="2852928"/>
            <a:ext cx="3008376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63656" y="3236976"/>
            <a:ext cx="2496312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10 × $15k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63656" y="4608576"/>
            <a:ext cx="2496312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Supporting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partnerships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Contracted benefits and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Assign a responsible person, cost, rights, capacity and delivery measure to each benefit.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Association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Approved naming/credit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appropriate content.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Experience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Scoped client/public program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licensed hospitality.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Verified delivery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consented aggregate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reporting.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Editorial independence and privacy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Sponsor terms must protect artist selection, image rights and visitor information.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No bought curation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Sponsors do not purchase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 selection.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No borrowed fame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Artist images, marks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participation need permission.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No visitor-list sale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Privacy and consent control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relationship information.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Proposed event week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August 9–15, 2027 remains unbooked. The program and site need approval.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Adviser, artist, press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partner attention.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PUBLIC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Free art, making,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conversation and guided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options.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AFTER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Seller fulfillment, sponsor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evidence and qualified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follow-up.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Sponsor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Report actual delivery, participation and artist outcomes against the contract.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Delivery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Actual rights/program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fulfillment and service quality.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Participation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Entries, estimated unique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visitors and program use, with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methods.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Artist outcomes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Paid work, completed sales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cleared aggregate seller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outcomes.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09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Discovery support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A contract may count discovery support once toward a later sponsorship package.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$75,000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Paid discovery target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6 weeks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Proposed evidence stage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151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18688"/>
            <a:ext cx="3584447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4200" b="1">
                <a:solidFill>
                  <a:srgbClr val="DCFF5F"/>
                </a:solidFill>
                <a:latin typeface="Arial"/>
              </a:defRPr>
            </a:pPr>
            <a:r>
              <a:t>G3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544568"/>
            <a:ext cx="3584447" cy="261518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Public launch only after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F3F0E9"/>
                </a:solidFill>
                <a:latin typeface="Arial"/>
              </a:defRPr>
            </a:pPr>
            <a:r>
              <a:t>funding/site evidence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Commercial terms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Each partnership needs payment, cancellation, exclusivity, rights and approval terms.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Terms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432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Cash schedule, cancellation,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exclusivity and approved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rights.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266944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266944" y="2852928"/>
            <a:ext cx="4096511" cy="59436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22976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22976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Price and fund each program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and hospitality benefit.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19488" y="2852928"/>
            <a:ext cx="4096511" cy="4489703"/>
          </a:xfrm>
          <a:prstGeom prst="rect">
            <a:avLst/>
          </a:prstGeom>
          <a:solidFill>
            <a:srgbClr val="E7E5D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619488" y="2852928"/>
            <a:ext cx="4096511" cy="59436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19" y="3236976"/>
            <a:ext cx="3584447" cy="11887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700" b="1">
                <a:solidFill>
                  <a:srgbClr val="151A22"/>
                </a:solidFill>
                <a:latin typeface="Arial"/>
              </a:defRPr>
            </a:pPr>
            <a:r>
              <a:t>Approval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19" y="4608576"/>
            <a:ext cx="3584447" cy="25237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Obtain owner, artist and</a:t>
            </a:r>
          </a:p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100" b="0">
                <a:solidFill>
                  <a:srgbClr val="151A22"/>
                </a:solidFill>
                <a:latin typeface="Arial"/>
              </a:defRPr>
            </a:pPr>
            <a:r>
              <a:t>specialist permissions.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A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2344400" cy="320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DCFF5F"/>
                </a:solidFill>
                <a:latin typeface="Arial"/>
              </a:defRPr>
            </a:pPr>
            <a:r>
              <a:t>THE NEXT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9418320" cy="2011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200" b="1">
                <a:solidFill>
                  <a:srgbClr val="F3F0E9"/>
                </a:solidFill>
                <a:latin typeface="Arial"/>
              </a:defRPr>
            </a:pPr>
            <a:r>
              <a:t>Partnership discussion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470912"/>
            <a:ext cx="9601200" cy="1371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300" b="0">
                <a:solidFill>
                  <a:srgbClr val="F3F0E9"/>
                </a:solidFill>
                <a:latin typeface="Arial"/>
              </a:defRPr>
            </a:pPr>
            <a:r>
              <a:t>Identify the sponsor’s objective and a specific program it can fund.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416052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88720" y="416052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Agree the audience and useful outcome.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89204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489204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Scope rights, cost and delivery evidence.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623560"/>
            <a:ext cx="73152" cy="384048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5623560"/>
            <a:ext cx="9235440" cy="6400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F3F0E9"/>
                </a:solidFill>
                <a:latin typeface="Arial"/>
              </a:defRPr>
            </a:pPr>
            <a:r>
              <a:t>Commit only after the required site and funding gates.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340253" y="3931920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340253" y="3931920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793268" y="3931920"/>
            <a:ext cx="58792" cy="14740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928178" y="4498848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928178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381194" y="4498848"/>
            <a:ext cx="58792" cy="226771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928178" y="6707767"/>
            <a:ext cx="1511808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340253" y="6140839"/>
            <a:ext cx="1007872" cy="58792"/>
          </a:xfrm>
          <a:prstGeom prst="rect">
            <a:avLst/>
          </a:prstGeom>
          <a:solidFill>
            <a:srgbClr val="DCFF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F3F0E9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F3F0E9"/>
                </a:solidFill>
                <a:latin typeface="Arial"/>
              </a:defRPr>
            </a:pPr>
            <a:r>
              <a:t>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11480"/>
            <a:ext cx="12435840" cy="2743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A6AAA6"/>
                </a:solidFill>
                <a:latin typeface="Arial"/>
              </a:defRPr>
            </a:pPr>
            <a:r>
              <a:t>COMMERCIAL SPONSORS, HOSPITALITY AND DESTINATION PARTNERS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987552"/>
            <a:ext cx="12801600" cy="2148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5000" b="1">
                <a:solidFill>
                  <a:srgbClr val="151A22"/>
                </a:solidFill>
                <a:latin typeface="Arial"/>
              </a:defRPr>
            </a:pPr>
            <a:r>
              <a:t>Sources and open assumptions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87220"/>
            <a:ext cx="12618720" cy="10058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900" b="0">
                <a:solidFill>
                  <a:srgbClr val="151A22"/>
                </a:solidFill>
                <a:latin typeface="Arial"/>
              </a:defRPr>
            </a:pPr>
            <a:r>
              <a:t>No sponsor, hospitality partner or artist has accepted participation.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880360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>
            <a:hlinkClick r:id="rId2"/>
          </p:cNvPr>
          <p:cNvSpPr txBox="1"/>
          <p:nvPr/>
        </p:nvSpPr>
        <p:spPr>
          <a:xfrm>
            <a:off x="1234440" y="2852928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Package prices and audience targets are original unvalidated assumptions.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376928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>
            <a:hlinkClick r:id="rId2"/>
          </p:cNvPr>
          <p:cNvSpPr txBox="1"/>
          <p:nvPr/>
        </p:nvSpPr>
        <p:spPr>
          <a:xfrm>
            <a:off x="1234440" y="4349496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Primary research, business plan, marketing plan and cash model accompany the deck.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5873496"/>
            <a:ext cx="68580" cy="457200"/>
          </a:xfrm>
          <a:prstGeom prst="rect">
            <a:avLst/>
          </a:prstGeom>
          <a:solidFill>
            <a:srgbClr val="294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>
            <a:hlinkClick r:id="rId2"/>
          </p:cNvPr>
          <p:cNvSpPr txBox="1"/>
          <p:nvPr/>
        </p:nvSpPr>
        <p:spPr>
          <a:xfrm>
            <a:off x="1234440" y="5846063"/>
            <a:ext cx="12252960" cy="13776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151A22"/>
                </a:solidFill>
                <a:latin typeface="Arial"/>
              </a:defRPr>
            </a:pPr>
            <a:r>
              <a:t>Approved images/marks and actual agreement details belong in the release copy.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7635240"/>
            <a:ext cx="12801600" cy="10972"/>
          </a:xfrm>
          <a:prstGeom prst="rect">
            <a:avLst/>
          </a:prstGeom>
          <a:solidFill>
            <a:srgbClr val="A6AA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7772400"/>
            <a:ext cx="36576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151A22"/>
                </a:solidFill>
                <a:latin typeface="Arial"/>
              </a:defRPr>
            </a:pPr>
            <a:r>
              <a:t>COMMON ALTITUDE / 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7772400"/>
            <a:ext cx="640080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WORKING PROPOSAL / 24 OCT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38760" y="7772400"/>
            <a:ext cx="777240" cy="2103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defRPr sz="900" b="0">
                <a:solidFill>
                  <a:srgbClr val="151A22"/>
                </a:solidFill>
                <a:latin typeface="Arial"/>
              </a:defRPr>
            </a:pPr>
            <a:r>
              <a:t>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COMMON ALTITUDE. Commercial sponsors, hospitality and destination partners</dc:title>
  <dc:subject>Conditional proposal for review, October 24 2026</dc:subject>
  <dc:creator>Common Altitude planning</dc:creator>
  <cp:keywords/>
  <dc:description>generated using python-pptx</dc:description>
  <cp:lastModifiedBy>Common Altitude planning</cp:lastModifiedBy>
  <cp:revision>1</cp:revision>
  <dcterms:created xsi:type="dcterms:W3CDTF">2013-01-27T09:14:16Z</dcterms:created>
  <dcterms:modified xsi:type="dcterms:W3CDTF">2013-01-27T09:15:58Z</dcterms:modified>
  <cp:category/>
</cp:coreProperties>
</file>