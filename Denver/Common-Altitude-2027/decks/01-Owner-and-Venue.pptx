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COMMON ALTITUDE</a:t>
            </a:r>
          </a:p>
          <a:p/>
          <a:p>
            <a:r>
              <a:t>OFFICE OF THE IMPOSSIBLE</a:t>
            </a:r>
          </a:p>
          <a:p>
            <a:r>
              <a:t>Denver Art Fair &amp; Exhibition</a:t>
            </a:r>
          </a:p>
          <a:p>
            <a:r>
              <a:t>Proposed August 9–15, 2027</a:t>
            </a:r>
          </a:p>
          <a:p/>
          <a:p/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Art at Denver Energy Center</a:t>
            </a:r>
          </a:p>
          <a:p/>
          <a:p>
            <a:r>
              <a:t>The proposal combines an art market, commissioned work and free public access within an approved footprint.</a:t>
            </a:r>
          </a:p>
          <a:p/>
          <a:p>
            <a:r>
              <a:t>A reason to visit / Artists and galleries present selected work in individual rooms.</a:t>
            </a:r>
          </a:p>
          <a:p>
            <a:r>
              <a:t>A useful market / Buyers get appointments, work records, seller invoices and delivery support.</a:t>
            </a:r>
          </a:p>
          <a:p>
            <a:r>
              <a:t>A public welcome / Free core art discovery and paid local creative participation.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Art in former offices</a:t>
            </a:r>
          </a:p>
          <a:p/>
          <a:p>
            <a:r>
              <a:t>The proposed fair combines gallery rooms, artist work, workshops and buying appointments.</a:t>
            </a:r>
          </a:p>
          <a:p/>
          <a:p>
            <a:r>
              <a:t>COMMON ALTITUDE is the master brand.</a:t>
            </a:r>
          </a:p>
          <a:p>
            <a:r>
              <a:t>OFFICE OF THE IMPOSSIBLE is the proposed first-edition theme.</a:t>
            </a:r>
          </a:p>
          <a:p>
            <a:r>
              <a:t>Artists control their work. Sellers supply accurate records and purchase terms.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Proposed allocation of 60 spaces</a:t>
            </a:r>
          </a:p>
          <a:p/>
          <a:p>
            <a:r>
              <a:t>A site survey must establish where these 60 program functions can fit.</a:t>
            </a:r>
          </a:p>
          <a:p/>
          <a:p>
            <a:r>
              <a:t>24 / Gallery presentations</a:t>
            </a:r>
          </a:p>
          <a:p>
            <a:r>
              <a:t>12 / Direct-artist salons</a:t>
            </a:r>
          </a:p>
          <a:p>
            <a:r>
              <a:t>6 / Signature briefs</a:t>
            </a:r>
          </a:p>
          <a:p>
            <a:r>
              <a:t>18 / Learning, common and support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Two preview days and five public days</a:t>
            </a:r>
          </a:p>
          <a:p/>
          <a:p>
            <a:r>
              <a:t>The proposed week runs August 9–15, 2027. The project has no venue or date booking.</a:t>
            </a:r>
          </a:p>
          <a:p/>
          <a:p>
            <a:r>
              <a:t>MON–TUE / Orientation, advisers, press and artist/collector previews.</a:t>
            </a:r>
          </a:p>
          <a:p>
            <a:r>
              <a:t>WED–FRI / Free art discovery, guided journeys, conversations and making.</a:t>
            </a:r>
          </a:p>
          <a:p>
            <a:r>
              <a:t>SAT–SUN / Public and family discovery, considered purchases and a strong close.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Buyer and sales targets</a:t>
            </a:r>
          </a:p>
          <a:p/>
          <a:p>
            <a:r>
              <a:t>Demand research must test these targets. Count visits, households and completed purchases separately.</a:t>
            </a:r>
          </a:p>
          <a:p/>
          <a:p>
            <a:r>
              <a:t>12,000 / Unique visitor target</a:t>
            </a:r>
          </a:p>
          <a:p>
            <a:r>
              <a:t>600 / Qualified collector households</a:t>
            </a:r>
          </a:p>
          <a:p>
            <a:r>
              <a:t>150 / Completed purchasing households</a:t>
            </a:r>
          </a:p>
          <a:p>
            <a:r>
              <a:t>$3m / Completed art GMV target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Seller service and sale completion</a:t>
            </a:r>
          </a:p>
          <a:p/>
          <a:p>
            <a:r>
              <a:t>The proposal charges zero organizer art commission. Disclose seller, gallery and external costs separately.</a:t>
            </a:r>
          </a:p>
          <a:p/>
          <a:p>
            <a:r>
              <a:t>Selected work / Independent curation, accurate information and rights-cleared images.</a:t>
            </a:r>
          </a:p>
          <a:p>
            <a:r>
              <a:t>Trusted sellers / Seller authority, clear invoices, condition and provenance.</a:t>
            </a:r>
          </a:p>
          <a:p>
            <a:r>
              <a:t>Real follow-through / Appointments, delivery coordination and completion records.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Organizer revenue and costs</a:t>
            </a:r>
          </a:p>
          <a:p/>
          <a:p>
            <a:r>
              <a:t>The core scenario uses unverified funding, fee and demand assumptions.</a:t>
            </a:r>
          </a:p>
          <a:p/>
          <a:p>
            <a:r>
              <a:t>$1,815,000 / Organizer income</a:t>
            </a:r>
          </a:p>
          <a:p>
            <a:r>
              <a:t>$1,550,000 / Cost envelope</a:t>
            </a:r>
          </a:p>
          <a:p>
            <a:r>
              <a:t>$265,000 / Before owner / tax / reserves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Proposed venue terms</a:t>
            </a:r>
          </a:p>
          <a:p/>
          <a:p>
            <a:r>
              <a:t>The parties need to agree the space, services and profit-share basis.</a:t>
            </a:r>
          </a:p>
          <a:p/>
          <a:p>
            <a:r>
              <a:t>Space / Waived base rent for an approved footprint and possession window.</a:t>
            </a:r>
          </a:p>
          <a:p>
            <a:r>
              <a:t>Services / Documented incremental services with budget, responsibility and cost control.</a:t>
            </a:r>
          </a:p>
          <a:p>
            <a:r>
              <a:t>Participation / 10–20% of defined distributable event profit. Model comparison uses 15%.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Owner profit-share calculation</a:t>
            </a:r>
          </a:p>
          <a:p/>
          <a:p>
            <a:r>
              <a:t>Sellers keep artwork proceeds. This calculation applies the proposed owner share to event cash after reserves.</a:t>
            </a:r>
          </a:p>
          <a:p/>
          <a:p>
            <a:r>
              <a:t>$265,000 / Surplus before owner, tax and reserves</a:t>
            </a:r>
          </a:p>
          <a:p>
            <a:r>
              <a:t>$48,500 / Initial pool after model cash reserves</a:t>
            </a:r>
          </a:p>
          <a:p>
            <a:r>
              <a:t>$7,275 / 15% initial owner-share comparison</a:t>
            </a:r>
          </a:p>
          <a:p>
            <a:r>
              <a:t>$15,750 / Cumulative comparison after a claim-free reserve release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Rental and office-leasing support</a:t>
            </a:r>
          </a:p>
          <a:p/>
          <a:p>
            <a:r>
              <a:t>Published plans describe rentals and retained offices. Confirm the current phase with the owner.</a:t>
            </a:r>
          </a:p>
          <a:p/>
          <a:p>
            <a:r>
              <a:t>Destination identity / Art programming that complements the completed development.</a:t>
            </a:r>
          </a:p>
          <a:p>
            <a:r>
              <a:t>Qualified interest / Separate opt-in residential/commercial inquiries, with agreed follow-up.</a:t>
            </a:r>
          </a:p>
          <a:p>
            <a:r>
              <a:t>Construction protection / Use only areas the owner approves and protect construction schedules.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Discovery funding and event finance</a:t>
            </a:r>
          </a:p>
          <a:p/>
          <a:p>
            <a:r>
              <a:t>These targets need contracts and usable cash. The deck makes no investment offer.</a:t>
            </a:r>
          </a:p>
          <a:p/>
          <a:p>
            <a:r>
              <a:t>$75,000 / Paid discovery target</a:t>
            </a:r>
          </a:p>
          <a:p>
            <a:r>
              <a:t>$1.25m / Core cash sponsorship target</a:t>
            </a:r>
          </a:p>
          <a:p>
            <a:r>
              <a:t>$600,000 / Proposed facility/backstop ceiling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Team roles and missing specialists</a:t>
            </a:r>
          </a:p>
          <a:p/>
          <a:p>
            <a:r>
              <a:t>The proposed founding functions cover art, product/program and brand. Hours and appointments remain open.</a:t>
            </a:r>
          </a:p>
          <a:p/>
          <a:p>
            <a:r>
              <a:t>Executive producer / Delivery, site and agency coordination. The project needs to fill this role.</a:t>
            </a:r>
          </a:p>
          <a:p>
            <a:r>
              <a:t>Collector + finance / Qualified buyer development and independent cash/settlement control.</a:t>
            </a:r>
          </a:p>
          <a:p>
            <a:r>
              <a:t>Professional specialists / Code/access, registrar/logistics, technical, visitor, security and medical.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Construction and public-use requirements</a:t>
            </a:r>
          </a:p>
          <a:p/>
          <a:p>
            <a:r>
              <a:t>Reported construction overlaps summer 2027. The owner must confirm whether any suitable area is available.</a:t>
            </a:r>
          </a:p>
          <a:p/>
          <a:p>
            <a:r>
              <a:t>Approved use / Actual footprint, occupancy, egress, access and inspections.</a:t>
            </a:r>
          </a:p>
          <a:p>
            <a:r>
              <a:t>Defined boundaries / Tenants, contractors, concourse ownership and possession.</a:t>
            </a:r>
          </a:p>
          <a:p>
            <a:r>
              <a:t>Public accountability / Paid artists, access, local coordination and truthful funding claims.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Six-week discovery plan</a:t>
            </a:r>
          </a:p>
          <a:p/>
          <a:p>
            <a:r>
              <a:t>The first decision concerns paid feasibility. Event approval follows the results.</a:t>
            </a:r>
          </a:p>
          <a:p/>
          <a:p>
            <a:r>
              <a:t>1 / Owner access, plans and responsible counterparts.</a:t>
            </a:r>
          </a:p>
          <a:p>
            <a:r>
              <a:t>2–3 / Producer/code review, market tests and scope alternatives.</a:t>
            </a:r>
          </a:p>
          <a:p>
            <a:r>
              <a:t>4–5 / Quotes, commercial terms, cash and cancellation analysis.</a:t>
            </a:r>
          </a:p>
          <a:p>
            <a:r>
              <a:t>6 / Joint proceed / resize / relocate / stop decision.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Discovery decision</a:t>
            </a:r>
          </a:p>
          <a:p/>
          <a:p>
            <a:r>
              <a:t>The owner would identify a responsible contact, share plans and phasing, and agree a funded discovery scope.</a:t>
            </a:r>
          </a:p>
          <a:p/>
          <a:p>
            <a:r>
              <a:t>Explore an approved summer 2027 footprint.</a:t>
            </a:r>
          </a:p>
          <a:p>
            <a:r>
              <a:t>Test waived rent, controlled services and defined profit participation.</a:t>
            </a:r>
          </a:p>
          <a:p>
            <a:r>
              <a:t>Return with evidence before the owner commits to the event.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Luzzatto Company / owner and creative leadership</a:t>
            </a:r>
          </a:p>
          <a:p>
            <a:r>
              <a:t>Sources and open conditions</a:t>
            </a:r>
          </a:p>
          <a:p/>
          <a:p>
            <a:r>
              <a:t>October 24, 2026. Venue, dates, funding, partners and capacity still need confirmation.</a:t>
            </a:r>
          </a:p>
          <a:p/>
          <a:p>
            <a:r>
              <a:t>Owner: denverenergycenter.com</a:t>
            </a:r>
          </a:p>
          <a:p>
            <a:r>
              <a:t>Prior research: rental interview, construction reporting and High Fidelity event listing.</a:t>
            </a:r>
          </a:p>
          <a:p>
            <a:r>
              <a:t>Financial inputs and assumptions are reproducible in the document repository.</a:t>
            </a:r>
          </a:p>
          <a:p>
            <a:r>
              <a:t>Original concept graphics. The deck contains no third-party art or partner logos.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enverenergycenter.com/home" TargetMode="External"/><Relationship Id="rId3" Type="http://schemas.openxmlformats.org/officeDocument/2006/relationships/hyperlink" Target="https://github.com/Suede0619/taosarts/blob/main/Denver/Common-Altitude-2027/RESEARCH.md" TargetMode="Externa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OFFICE OF THE IMPOSSIBLE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Denver Art Fair &amp; Exhibition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Proposed August 9–15,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Art at Denver Energy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proposal combines an art market, commissioned work and free public access within an approved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 reason to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Artists and galleries present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selected work in individual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rooms.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 useful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Buyers get appointments,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work records, seller invoices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delivery support.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 public welcome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core art discovery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 local creative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participation.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Art in former offices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proposed fair combines gallery rooms, artist work, workshops and buying appointments.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COMMON ALTITUDE is the master brand.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OFFICE OF THE IMPOSSIBLE is the proposed first-edition theme.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Artists control their work. Sellers supply accurate records and purchase terms.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Proposed allocation of 60 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 site survey must establish where these 60 program functions can fit.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2852928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0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71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150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86600" y="3540252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002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71800" y="4227576"/>
            <a:ext cx="612648" cy="614171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150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086600" y="4227576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002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860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718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914900"/>
            <a:ext cx="612648" cy="61417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150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86600" y="4914900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00200" y="5602223"/>
            <a:ext cx="612648" cy="614171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86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71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434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150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086600" y="5602223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4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600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86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71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150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008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86600" y="6289547"/>
            <a:ext cx="612648" cy="614171"/>
          </a:xfrm>
          <a:prstGeom prst="rect">
            <a:avLst/>
          </a:prstGeom>
          <a:solidFill>
            <a:srgbClr val="D8D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2852928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84080" y="2926080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Gallery presentations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75354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84080" y="4048506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Direct-artist salons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0" y="5097779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784080" y="5170931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Signature briefs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0" y="6220205"/>
            <a:ext cx="109728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51A22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6293357"/>
            <a:ext cx="379476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51A22"/>
                </a:solidFill>
                <a:latin typeface="Arial"/>
              </a:defRPr>
            </a:pPr>
            <a:r>
              <a:t>Learning, common and support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7251192"/>
            <a:ext cx="71323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151A22"/>
                </a:solidFill>
                <a:latin typeface="Arial"/>
              </a:defRPr>
            </a:pPr>
            <a:r>
              <a:t>PROPOSED PROGRAM FUNCTIONS / SITE SURVEY PENDING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Two preview days and five public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proposed week runs August 9–15, 2027. The project has no venue or date booking.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MON–TUE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Orientation, advisers, press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artist/collector previews.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WED–FRI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art discovery, guided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journeys, conversations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making.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SAT–SUN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Public and family discovery,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considered purchases and a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strong close.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Buyer and sales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Demand research must test these targets. Count visits, households and completed purchases separately.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2496312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12,000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2496312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Unique visitor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18688"/>
            <a:ext cx="2496312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544568"/>
            <a:ext cx="2496312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Qualified collector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households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18688"/>
            <a:ext cx="2496312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544568"/>
            <a:ext cx="2496312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Completed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purchasing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households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18688"/>
            <a:ext cx="2496312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544568"/>
            <a:ext cx="2496312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Completed art GMV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Seller service and sale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proposal charges zero organizer art commission. Disclose seller, gallery and external costs separately.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Selected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Independent curation,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accurate information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rights-cleared images.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Trusted sellers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Seller authority, clear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invoices, condition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provenance.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Real follow-through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Appointments, delivery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coordination and completion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Organizer revenue and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core scenario uses unverified funding, fee and demand assumptions.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$1,815,000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Organizer income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$1,550,000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Cost envelope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$265,000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Before owner / tax / reserves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Proposed venue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parties need to agree the space, services and profit-share basis.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Waived base rent for an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approved footprint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possession window.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Documented incremental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services with budget,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responsibility and cost control.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Participation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10–20% of defined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distributable event profit.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Model comparison uses 15%.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Owner profit-share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Sellers keep artwork proceeds. This calculation applies the proposed owner share to event cash after reserves.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$265,000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3017520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Surplus before owner, tax and reserves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75354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139946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$48,500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39946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Initial pool after model cash reserves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97779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62371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$7,275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62371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15% initial owner-share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220205"/>
            <a:ext cx="12801600" cy="100355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6384797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DCFF5F"/>
                </a:solidFill>
                <a:latin typeface="Arial"/>
              </a:defRPr>
            </a:pPr>
            <a:r>
              <a:t>$15,750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384797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3F0E9"/>
                </a:solidFill>
                <a:latin typeface="Arial"/>
              </a:defRPr>
            </a:pPr>
            <a:r>
              <a:t>Cumulative comparison after a claim-free reserve release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Rental and office-leasing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Published plans describe rentals and retained offices. Confirm the current phase with the owner.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Destination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 programming that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complements the completed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development.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Qualified 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Separate opt-in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residential/commercial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inquiries, with agreed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follow-up.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Construction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protection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Use only areas the owner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approves and protect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construction schedules.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Discovery funding and event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These targets need contracts and usable cash. The deck makes no investment offer.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Paid discovery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$1.25m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Core cash sponsorship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$600,000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Proposed facility/backstop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ceiling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Team roles and missing specialists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proposed founding functions cover art, product/program and brand. Hours and appointments remain open.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Executive producer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Delivery, site and agency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coordination. The project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needs to fill this role.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Collector +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Qualified buyer development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independent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cash/settlement control.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Professional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specialists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Code/access,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registrar/logistics, technical,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visitor, security and medical.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Construction and public-use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Reported construction overlaps summer 2027. The owner must confirm whether any suitable area is available.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90494"/>
            <a:ext cx="4096511" cy="4152137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190494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574542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Approved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946142"/>
            <a:ext cx="3584447" cy="21861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Actual footprint, occupancy,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egress, access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inspections.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3190494"/>
            <a:ext cx="4096511" cy="4152137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3190494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574542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Defined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946142"/>
            <a:ext cx="3584447" cy="21861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Tenants, contractors,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concourse ownership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possession.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3190494"/>
            <a:ext cx="4096511" cy="4152137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3190494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574542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accountability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946142"/>
            <a:ext cx="3584447" cy="21861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 artists, access, local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coordination and truthful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funding claims.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Six-week discovery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first decision concerns paid feasibility. Event approval follows the results.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Owner access, plans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responsible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counterparts.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2–3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Producer/code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review, market tests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scope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alternatives.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4–5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Quotes, commercial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terms, cash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cancellation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analysis.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Joint proceed /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resize / relocate /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stop decision.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Discovery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70912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The owner would identify a responsible contact, share plans and phasing,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and agree a funded discovery scope.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605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1605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Explore an approved summer 2027 footprint.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89204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89204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Test waived rent, controlled services and defined profit participation.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62356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62356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Return with evidence before the owner commits to the event.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THE LUZZATTO COMPANY / OWNER AND CREATIVE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Sources and open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October 24, 2026. Venue, dates, funding, partners and capacity still need confirmation.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0035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Owner: denverenergycenter.com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00278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3"/>
          </p:cNvPr>
          <p:cNvSpPr txBox="1"/>
          <p:nvPr/>
        </p:nvSpPr>
        <p:spPr>
          <a:xfrm>
            <a:off x="1234440" y="3975354"/>
            <a:ext cx="12252960" cy="10035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Prior research: rental interview, construction reporting and High Fidelity event listing.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125212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1234440" y="5097779"/>
            <a:ext cx="12252960" cy="10035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Financial inputs and assumptions are reproducible in the document repository.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24763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>
            <a:hlinkClick r:id="rId3"/>
          </p:cNvPr>
          <p:cNvSpPr txBox="1"/>
          <p:nvPr/>
        </p:nvSpPr>
        <p:spPr>
          <a:xfrm>
            <a:off x="1234440" y="6220205"/>
            <a:ext cx="12252960" cy="10035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Original concept graphics. The deck contains no third-party art or partner logos.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ALTITUDE. The Luzzatto Company / owner and creative leadership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