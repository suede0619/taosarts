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Luzzatto Company / owner and creative leadership</a:t>
            </a:r>
          </a:p>
          <a:p>
            <a:r>
              <a:t>COMMON ALTITUDE</a:t>
            </a:r>
          </a:p>
          <a:p/>
          <a:p>
            <a:r>
              <a:t>OFFICE OF THE IMPOSSIBLE</a:t>
            </a:r>
          </a:p>
          <a:p>
            <a:r>
              <a:t>Denver Art Fair &amp; Exhibition</a:t>
            </a:r>
          </a:p>
          <a:p>
            <a:r>
              <a:t>Proposed August 9–15, 2027</a:t>
            </a:r>
          </a:p>
          <a:p/>
          <a:p/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Luzzatto Company / owner and creative leadership</a:t>
            </a:r>
          </a:p>
          <a:p>
            <a:r>
              <a:t>Give the address a cultural life.</a:t>
            </a:r>
          </a:p>
          <a:p/>
          <a:p>
            <a:r>
              <a:t>A bounded art activation designed to serve the project and the people who make art.</a:t>
            </a:r>
          </a:p>
          <a:p/>
          <a:p>
            <a:r>
              <a:t>A reason to visit / Exceptional work and artist-authored rooms create a compelling destination.</a:t>
            </a:r>
          </a:p>
          <a:p>
            <a:r>
              <a:t>A useful market / Collectors meet trusted sellers, with time, context and dependable service.</a:t>
            </a:r>
          </a:p>
          <a:p>
            <a:r>
              <a:t>A public welcome / Free core art discovery and paid local creative participation.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Luzzatto Company / owner and creative leadership</a:t>
            </a:r>
          </a:p>
          <a:p>
            <a:r>
              <a:t>The ordinary becomes extraordinary.</a:t>
            </a:r>
          </a:p>
          <a:p/>
          <a:p>
            <a:r>
              <a:t>An office complex becomes an art fair, exhibition, workshop and place to encounter what is possible.</a:t>
            </a:r>
          </a:p>
          <a:p/>
          <a:p>
            <a:r>
              <a:t>COMMON ALTITUDE is the master brand.</a:t>
            </a:r>
          </a:p>
          <a:p>
            <a:r>
              <a:t>OFFICE OF THE IMPOSSIBLE is the proposed first-edition theme.</a:t>
            </a:r>
          </a:p>
          <a:p>
            <a:r>
              <a:t>Artist authorship and buying confidence lead the experience.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Luzzatto Company / owner and creative leadership</a:t>
            </a:r>
          </a:p>
          <a:p>
            <a:r>
              <a:t>One coherent edition. Room to grow.</a:t>
            </a:r>
          </a:p>
          <a:p/>
          <a:p>
            <a:r>
              <a:t>60 programmed rooms or equivalent spaces is the proposed core—not a surveyed floor plan.</a:t>
            </a:r>
          </a:p>
          <a:p/>
          <a:p>
            <a:r>
              <a:t>24 / Gallery presentations</a:t>
            </a:r>
          </a:p>
          <a:p>
            <a:r>
              <a:t>12 / Direct-artist salons</a:t>
            </a:r>
          </a:p>
          <a:p>
            <a:r>
              <a:t>6 / Signature briefs</a:t>
            </a:r>
          </a:p>
          <a:p>
            <a:r>
              <a:t>18 / Learning, common and support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Luzzatto Company / owner and creative leadership</a:t>
            </a:r>
          </a:p>
          <a:p>
            <a:r>
              <a:t>A week with a clear rhythm.</a:t>
            </a:r>
          </a:p>
          <a:p/>
          <a:p>
            <a:r>
              <a:t>Two professional/preview days. Five public art days. All dates and spaces remain proposed.</a:t>
            </a:r>
          </a:p>
          <a:p/>
          <a:p>
            <a:r>
              <a:t>MON–TUE / Orientation, advisers, press and artist/collector previews.</a:t>
            </a:r>
          </a:p>
          <a:p>
            <a:r>
              <a:t>WED–FRI / Free art discovery, guided journeys, conversations and making.</a:t>
            </a:r>
          </a:p>
          <a:p>
            <a:r>
              <a:t>SAT–SUN / Public and family discovery, considered purchases and a strong close.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Luzzatto Company / owner and creative leadership</a:t>
            </a:r>
          </a:p>
          <a:p>
            <a:r>
              <a:t>The demand case to prove.</a:t>
            </a:r>
          </a:p>
          <a:p/>
          <a:p>
            <a:r>
              <a:t>Targets are unvalidated; visitors, qualified households and completed purchases are different measures.</a:t>
            </a:r>
          </a:p>
          <a:p/>
          <a:p>
            <a:r>
              <a:t>12,000 / Unique visitor target</a:t>
            </a:r>
          </a:p>
          <a:p>
            <a:r>
              <a:t>600 / Qualified collector households</a:t>
            </a:r>
          </a:p>
          <a:p>
            <a:r>
              <a:t>150 / Completed purchasing households</a:t>
            </a:r>
          </a:p>
          <a:p>
            <a:r>
              <a:t>$3m / Completed art GMV target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Luzzatto Company / owner and creative leadership</a:t>
            </a:r>
          </a:p>
          <a:p>
            <a:r>
              <a:t>Sell art with confidence.</a:t>
            </a:r>
          </a:p>
          <a:p/>
          <a:p>
            <a:r>
              <a:t>Zero organizer art commission is proposed. Seller/gallery terms and external costs remain separate.</a:t>
            </a:r>
          </a:p>
          <a:p/>
          <a:p>
            <a:r>
              <a:t>Selected work / Independent curation, accurate information and rights-cleared images.</a:t>
            </a:r>
          </a:p>
          <a:p>
            <a:r>
              <a:t>Trusted sellers / Seller authority, clear invoices, condition and provenance.</a:t>
            </a:r>
          </a:p>
          <a:p>
            <a:r>
              <a:t>Real follow-through / Appointments, delivery coordination and completion records.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Luzzatto Company / owner and creative leadership</a:t>
            </a:r>
          </a:p>
          <a:p>
            <a:r>
              <a:t>The organizer model.</a:t>
            </a:r>
          </a:p>
          <a:p/>
          <a:p>
            <a:r>
              <a:t>Illustrative core proposal; no funding, fees or demand is validated.</a:t>
            </a:r>
          </a:p>
          <a:p/>
          <a:p>
            <a:r>
              <a:t>$1,815,000 / Organizer income</a:t>
            </a:r>
          </a:p>
          <a:p>
            <a:r>
              <a:t>$1,550,000 / Cost envelope</a:t>
            </a:r>
          </a:p>
          <a:p>
            <a:r>
              <a:t>$265,000 / Before owner / tax / reserves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Luzzatto Company / owner and creative leadership</a:t>
            </a:r>
          </a:p>
          <a:p>
            <a:r>
              <a:t>A precise host arrangement.</a:t>
            </a:r>
          </a:p>
          <a:p/>
          <a:p>
            <a:r>
              <a:t>A discussion structure, not an agreed venue offer.</a:t>
            </a:r>
          </a:p>
          <a:p/>
          <a:p>
            <a:r>
              <a:t>Space / Waived base rent for an approved footprint and possession window.</a:t>
            </a:r>
          </a:p>
          <a:p>
            <a:r>
              <a:t>Services / Documented incremental services with budget, responsibility and cost control.</a:t>
            </a:r>
          </a:p>
          <a:p>
            <a:r>
              <a:t>Participation / 10–20% of defined distributable event profit; model comparison uses 15%.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Luzzatto Company / owner and creative leadership</a:t>
            </a:r>
          </a:p>
          <a:p>
            <a:r>
              <a:t>An honest owner-return illustration.</a:t>
            </a:r>
          </a:p>
          <a:p/>
          <a:p>
            <a:r>
              <a:t>Art GMV is seller money. A share of distributable profit produces a much smaller amount.</a:t>
            </a:r>
          </a:p>
          <a:p/>
          <a:p>
            <a:r>
              <a:t>$265,000 / Surplus before owner, tax and reserves</a:t>
            </a:r>
          </a:p>
          <a:p>
            <a:r>
              <a:t>$48,500 / Initially eligible after illustrative holds</a:t>
            </a:r>
          </a:p>
          <a:p>
            <a:r>
              <a:t>$7,275 / 15% initial owner-share comparison</a:t>
            </a:r>
          </a:p>
          <a:p>
            <a:r>
              <a:t>$15,750 / Cumulative comparison only if claims hold is fully released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Luzzatto Company / owner and creative leadership</a:t>
            </a:r>
          </a:p>
          <a:p>
            <a:r>
              <a:t>Serve the rental and leasing strategy.</a:t>
            </a:r>
          </a:p>
          <a:p/>
          <a:p>
            <a:r>
              <a:t>Current published direction is rental housing plus retained office use; confirm the specific phase with the owner.</a:t>
            </a:r>
          </a:p>
          <a:p/>
          <a:p>
            <a:r>
              <a:t>Destination identity / An excellent cultural experience and credible public narrative.</a:t>
            </a:r>
          </a:p>
          <a:p>
            <a:r>
              <a:t>Qualified interest / Separate opt-in residential/commercial inquiries, with agreed follow-up.</a:t>
            </a:r>
          </a:p>
          <a:p>
            <a:r>
              <a:t>Construction protection / No unsupported whole-building access or schedule interference.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Luzzatto Company / owner and creative leadership</a:t>
            </a:r>
          </a:p>
          <a:p>
            <a:r>
              <a:t>Fund the evidence. Then fund delivery.</a:t>
            </a:r>
          </a:p>
          <a:p/>
          <a:p>
            <a:r>
              <a:t>Illustrative funding needs, not commitments or an investment offering.</a:t>
            </a:r>
          </a:p>
          <a:p/>
          <a:p>
            <a:r>
              <a:t>$75,000 / Paid discovery target</a:t>
            </a:r>
          </a:p>
          <a:p>
            <a:r>
              <a:t>$1.25m / Core cash sponsorship target</a:t>
            </a:r>
          </a:p>
          <a:p>
            <a:r>
              <a:t>$600,000 / Proposed facility/backstop ceiling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Luzzatto Company / owner and creative leadership</a:t>
            </a:r>
          </a:p>
          <a:p>
            <a:r>
              <a:t>Build a team that can deliver.</a:t>
            </a:r>
          </a:p>
          <a:p/>
          <a:p>
            <a:r>
              <a:t>Founding artistic, product/program and brand functions are identified; appointments and capacity require agreement.</a:t>
            </a:r>
          </a:p>
          <a:p/>
          <a:p>
            <a:r>
              <a:t>Executive producer / Experienced delivery, site and city interfaces; role open.</a:t>
            </a:r>
          </a:p>
          <a:p>
            <a:r>
              <a:t>Collector + finance / Qualified buyer development and independent cash/settlement control.</a:t>
            </a:r>
          </a:p>
          <a:p>
            <a:r>
              <a:t>Professional specialists / Code/access, registrar/logistics, technical, visitor, security and medical.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Luzzatto Company / owner and creative leadership</a:t>
            </a:r>
          </a:p>
          <a:p>
            <a:r>
              <a:t>A good neighbor. A controlled project.</a:t>
            </a:r>
          </a:p>
          <a:p/>
          <a:p>
            <a:r>
              <a:t>The reported construction period overlaps summer 2027. Availability must be established, not assumed.</a:t>
            </a:r>
          </a:p>
          <a:p/>
          <a:p>
            <a:r>
              <a:t>Approved use / Actual footprint, occupancy, egress, access and inspections.</a:t>
            </a:r>
          </a:p>
          <a:p>
            <a:r>
              <a:t>Defined boundaries / Tenants, contractors, concourse ownership and possession.</a:t>
            </a:r>
          </a:p>
          <a:p>
            <a:r>
              <a:t>Public accountability / Paid artists, access, local coordination and truthful funding claims.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Luzzatto Company / owner and creative leadership</a:t>
            </a:r>
          </a:p>
          <a:p>
            <a:r>
              <a:t>Six weeks to a useful decision.</a:t>
            </a:r>
          </a:p>
          <a:p/>
          <a:p>
            <a:r>
              <a:t>Proposed discovery structure; no full event commitment is requested at this stage.</a:t>
            </a:r>
          </a:p>
          <a:p/>
          <a:p>
            <a:r>
              <a:t>1 / Owner access, plans and responsible counterparts.</a:t>
            </a:r>
          </a:p>
          <a:p>
            <a:r>
              <a:t>2–3 / Producer/code review, market tests and scope alternatives.</a:t>
            </a:r>
          </a:p>
          <a:p>
            <a:r>
              <a:t>4–5 / Quotes, commercial terms, cash and cancellation analysis.</a:t>
            </a:r>
          </a:p>
          <a:p>
            <a:r>
              <a:t>6 / Joint proceed / resize / relocate / stop decision.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Luzzatto Company / owner and creative leadership</a:t>
            </a:r>
          </a:p>
          <a:p>
            <a:r>
              <a:t>Authorize a bounded investigation.</a:t>
            </a:r>
          </a:p>
          <a:p/>
          <a:p>
            <a:r>
              <a:t>Next decision: nominate the owner counterpart, share the site/phasing evidence and agree a funded discovery scope.</a:t>
            </a:r>
          </a:p>
          <a:p/>
          <a:p>
            <a:r>
              <a:t>Explore an approved summer 2027 footprint.</a:t>
            </a:r>
          </a:p>
          <a:p>
            <a:r>
              <a:t>Test waived rent, controlled services and defined profit participation.</a:t>
            </a:r>
          </a:p>
          <a:p>
            <a:r>
              <a:t>Return with evidence before the owner commits to the event.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Luzzatto Company / owner and creative leadership</a:t>
            </a:r>
          </a:p>
          <a:p>
            <a:r>
              <a:t>The evidence and the conditions.</a:t>
            </a:r>
          </a:p>
          <a:p/>
          <a:p>
            <a:r>
              <a:t>Current proposal, October 24, 2026. Site/date, funding, participants and capacities are unconfirmed.</a:t>
            </a:r>
          </a:p>
          <a:p/>
          <a:p>
            <a:r>
              <a:t>Owner: denverenergycenter.com</a:t>
            </a:r>
          </a:p>
          <a:p>
            <a:r>
              <a:t>Prior research: rental interview, construction reporting and High Fidelity event listing.</a:t>
            </a:r>
          </a:p>
          <a:p>
            <a:r>
              <a:t>Financial inputs and assumptions are reproducible in the document repository.</a:t>
            </a:r>
          </a:p>
          <a:p>
            <a:r>
              <a:t>Original concept graphics; no third-party artwork or partner logos reused.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enverenergycenter.com/home" TargetMode="External"/><Relationship Id="rId3" Type="http://schemas.openxmlformats.org/officeDocument/2006/relationships/hyperlink" Target="https://github.com/Suede0619/taosarts/blob/main/Denver/Common-Altitude-2027/RESEARCH.md" TargetMode="Externa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2344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FF5F"/>
                </a:solidFill>
                <a:latin typeface="Arial"/>
              </a:defRPr>
            </a:pPr>
            <a:r>
              <a:t>THE LUZZATTO COMPANY / OWNER AND CREATIVE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8686800" cy="2926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3F0E9"/>
                </a:solidFill>
                <a:latin typeface="Arial"/>
              </a:defRPr>
            </a:pPr>
            <a:r>
              <a:t>COMMON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3F0E9"/>
                </a:solidFill>
                <a:latin typeface="Arial"/>
              </a:defRPr>
            </a:pPr>
            <a:r>
              <a:t>ALTITUDE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00600"/>
            <a:ext cx="8138160" cy="1508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OFFICE OF THE IMPOSSIBLE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Denver Art Fair &amp; Exhibition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Proposed August 9–15, 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1648205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1648205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99629" y="1648205"/>
            <a:ext cx="94731" cy="237506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05718" y="2561691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05718" y="2561691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346948" y="2561691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05718" y="6120902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5207416"/>
            <a:ext cx="1623974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675120"/>
            <a:ext cx="36576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6AAA6"/>
                </a:solidFill>
                <a:latin typeface="Arial"/>
              </a:defRPr>
            </a:pPr>
            <a:r>
              <a:t>ORIGINAL CONCEPT GRAPHIC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3F0E9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THE LUZZATTO COMPANY / OWNER AND CREATIVE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Give the address a cultural life.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 bounded art activation designed to serve the project and the people who make art.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 reason to 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Exceptional work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artist-authored rooms create 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compelling destination.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 useful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Collectors meet trusted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sellers, with time, context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dependable service.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 public welcome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Free core art discovery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paid local creative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participation.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THE LUZZATTO COMPANY / OWNER AND CREATIVE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The ordinary becomes extraordinary.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An office complex becomes an art fair, exhibition, workshop and place to encounter what is possible.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80360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852928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COMMON ALTITUDE is the master brand.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76928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349496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OFFICE OF THE IMPOSSIBLE is the proposed first-edition theme.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73496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5846063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Artist authorship and buying confidence lead the experience.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THE LUZZATTO COMPANY / OWNER AND CREATIVE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One coherent edition.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Room to grow.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857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60 programmed rooms or equivalent spaces is the proposed core—not a surveyed floor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190494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3190494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3190494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71800" y="3190494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3190494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3190494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90494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0" y="3190494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190494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3190494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821557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00200" y="3821557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3821557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71800" y="3821557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0" y="3821557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3821557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821557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3821557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821557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86600" y="3821557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452620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00200" y="4452620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0" y="4452620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71800" y="4452620"/>
            <a:ext cx="612648" cy="55791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0" y="4452620"/>
            <a:ext cx="612648" cy="557910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452620"/>
            <a:ext cx="612648" cy="557910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0" y="4452620"/>
            <a:ext cx="612648" cy="557910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15000" y="4452620"/>
            <a:ext cx="612648" cy="557910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452620"/>
            <a:ext cx="612648" cy="557910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86600" y="4452620"/>
            <a:ext cx="612648" cy="557910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5083682"/>
            <a:ext cx="612648" cy="557910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00200" y="5083682"/>
            <a:ext cx="612648" cy="557910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0" y="5083682"/>
            <a:ext cx="612648" cy="557910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71800" y="5083682"/>
            <a:ext cx="612648" cy="557910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0" y="5083682"/>
            <a:ext cx="612648" cy="557910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5083682"/>
            <a:ext cx="612648" cy="557910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0" y="5083682"/>
            <a:ext cx="612648" cy="55791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15000" y="5083682"/>
            <a:ext cx="612648" cy="55791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5083682"/>
            <a:ext cx="612648" cy="55791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86600" y="5083682"/>
            <a:ext cx="612648" cy="55791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" y="5714745"/>
            <a:ext cx="612648" cy="55791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600200" y="5714745"/>
            <a:ext cx="612648" cy="55791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86000" y="5714745"/>
            <a:ext cx="612648" cy="557910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71800" y="5714745"/>
            <a:ext cx="612648" cy="557910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0" y="5714745"/>
            <a:ext cx="612648" cy="557910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43400" y="5714745"/>
            <a:ext cx="612648" cy="557910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5714745"/>
            <a:ext cx="612648" cy="557910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15000" y="5714745"/>
            <a:ext cx="612648" cy="557910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0" y="5714745"/>
            <a:ext cx="612648" cy="557910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5714745"/>
            <a:ext cx="612648" cy="557910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0" y="6345808"/>
            <a:ext cx="612648" cy="557910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600200" y="6345808"/>
            <a:ext cx="612648" cy="557910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86000" y="6345808"/>
            <a:ext cx="612648" cy="557910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71800" y="6345808"/>
            <a:ext cx="612648" cy="557910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57600" y="6345808"/>
            <a:ext cx="612648" cy="557910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43400" y="6345808"/>
            <a:ext cx="612648" cy="557910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200" y="6345808"/>
            <a:ext cx="612648" cy="557910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15000" y="6345808"/>
            <a:ext cx="612648" cy="557910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0800" y="6345808"/>
            <a:ext cx="612648" cy="557910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086600" y="6345808"/>
            <a:ext cx="612648" cy="557910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2480" y="3190494"/>
            <a:ext cx="10972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51A22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84080" y="3263646"/>
            <a:ext cx="37947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22"/>
                </a:solidFill>
                <a:latin typeface="Arial"/>
              </a:defRPr>
            </a:pPr>
            <a:r>
              <a:t>Gallery presentations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4228528"/>
            <a:ext cx="10972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51A22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84080" y="4301680"/>
            <a:ext cx="37947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22"/>
                </a:solidFill>
                <a:latin typeface="Arial"/>
              </a:defRPr>
            </a:pPr>
            <a:r>
              <a:t>Direct-artist salons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12480" y="5266563"/>
            <a:ext cx="10972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51A2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5339715"/>
            <a:ext cx="37947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22"/>
                </a:solidFill>
                <a:latin typeface="Arial"/>
              </a:defRPr>
            </a:pPr>
            <a:r>
              <a:t>Signature briefs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2480" y="6304597"/>
            <a:ext cx="10972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51A22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84080" y="6377749"/>
            <a:ext cx="37947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22"/>
                </a:solidFill>
                <a:latin typeface="Arial"/>
              </a:defRPr>
            </a:pPr>
            <a:r>
              <a:t>Learning, common and support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" y="7251192"/>
            <a:ext cx="71323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51A22"/>
                </a:solidFill>
                <a:latin typeface="Arial"/>
              </a:defRPr>
            </a:pPr>
            <a:r>
              <a:t>CONCEPTUAL FUNCTION GRID / NOT A SURVEYED FLOOR PLAN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THE LUZZATTO COMPANY / OWNER AND CREATIVE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 week with a clear rhythm.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Two professional/preview days. Five public art days. All dates and spaces remain proposed.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MON–TUE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Orientation, advisers, press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and artist/collector previews.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WED–FRI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Free art discovery, guided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journeys, conversations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making.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SAT–SUN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Public and family discovery,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considered purchases and 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strong close.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THE LUZZATTO COMPANY / OWNER AND CREATIVE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The demand case to prove.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Targets are unvalidated; visitors, qualified households and completed purchases are different measures.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3008376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3008376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18688"/>
            <a:ext cx="2496312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12,000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544568"/>
            <a:ext cx="2496312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Unique visitor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2852928"/>
            <a:ext cx="3008376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78808" y="2852928"/>
            <a:ext cx="3008376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218688"/>
            <a:ext cx="2496312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544568"/>
            <a:ext cx="2496312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Qualified collector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households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43216" y="2852928"/>
            <a:ext cx="3008376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43216" y="2852928"/>
            <a:ext cx="3008376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8" y="3218688"/>
            <a:ext cx="2496312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4544568"/>
            <a:ext cx="2496312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Completed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purchasing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households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07624" y="2852928"/>
            <a:ext cx="3008376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07624" y="2852928"/>
            <a:ext cx="3008376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63656" y="3218688"/>
            <a:ext cx="2496312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63656" y="4544568"/>
            <a:ext cx="2496312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Completed art GMV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THE LUZZATTO COMPANY / OWNER AND CREATIVE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Sell art with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Zero organizer art commission is proposed. Seller/gallery terms and external costs remain separate.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Independent curation,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accurate information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rights-cleared images.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Trusted sellers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Seller authority, clear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invoices, condition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provenance.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Real follow-through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Appointments, delivery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coordination and completion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records.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THE LUZZATTO COMPANY / OWNER AND CREATIVE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The organizer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Illustrative core proposal; no funding, fees or demand is validated.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$1,815,000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Organizer income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$1,550,000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Cost envelope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$265,000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Before owner / tax / reserves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THE LUZZATTO COMPANY / OWNER AND CREATIVE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 precise host arrangement.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 discussion structure, not an agreed venue offer.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Waived base rent for 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approved footprint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possession window.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Documented incremental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services with budget,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responsibility and cost control.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Participation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10–20% of defined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distributable event profit;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model comparison uses 15%.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THE LUZZATTO COMPANY / OWNER AND CREATIVE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An honest owner-return illustration.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Art GMV is seller money. A share of distributable profit produces a much smaller amount.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12801600" cy="100355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3566160" cy="89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51A22"/>
                </a:solidFill>
                <a:latin typeface="Arial"/>
              </a:defRPr>
            </a:pPr>
            <a:r>
              <a:t>$265,000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017520"/>
            <a:ext cx="8321040" cy="89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Surplus before owner, tax and reserves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75354"/>
            <a:ext cx="12801600" cy="100355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139946"/>
            <a:ext cx="3566160" cy="89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51A22"/>
                </a:solidFill>
                <a:latin typeface="Arial"/>
              </a:defRPr>
            </a:pPr>
            <a:r>
              <a:t>$48,500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39946"/>
            <a:ext cx="8321040" cy="89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Initially eligible after illustrative holds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097779"/>
            <a:ext cx="12801600" cy="100355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262371"/>
            <a:ext cx="3566160" cy="89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51A22"/>
                </a:solidFill>
                <a:latin typeface="Arial"/>
              </a:defRPr>
            </a:pPr>
            <a:r>
              <a:t>$7,275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262371"/>
            <a:ext cx="8321040" cy="89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15% initial owner-share comparison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220205"/>
            <a:ext cx="12801600" cy="100355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6384797"/>
            <a:ext cx="3566160" cy="89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DCFF5F"/>
                </a:solidFill>
                <a:latin typeface="Arial"/>
              </a:defRPr>
            </a:pPr>
            <a:r>
              <a:t>$15,750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384797"/>
            <a:ext cx="8321040" cy="89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3F0E9"/>
                </a:solidFill>
                <a:latin typeface="Arial"/>
              </a:defRPr>
            </a:pPr>
            <a:r>
              <a:t>Cumulative comparison only if claims hold is fully released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THE LUZZATTO COMPANY / OWNER AND CREATIVE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Serve the rental and leasing strategy.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Current published direction is rental housing plus retained office use; confirm the specific phase with the owner.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Destination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 excellent cultural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experience and credible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public narrative.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Qualified interest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Separate opt-in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residential/commercial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inquiries, with agreed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follow-up.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Construction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protection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No unsupported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whole-building access or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schedule interference.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THE LUZZATTO COMPANY / OWNER AND CREATIVE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Fund the evidence.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Then fund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857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Illustrative funding needs, not commitments or an investment offering.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190494"/>
            <a:ext cx="4096511" cy="4152137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190494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556254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$75,000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882134"/>
            <a:ext cx="3584447" cy="22776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Paid discovery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3190494"/>
            <a:ext cx="4096511" cy="4152137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3190494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556254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$1.25m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882134"/>
            <a:ext cx="3584447" cy="22776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Core cash sponsorship target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3190494"/>
            <a:ext cx="4096511" cy="4152137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3190494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556254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$600,000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882134"/>
            <a:ext cx="3584447" cy="22776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Proposed facility/backstop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ceiling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THE LUZZATTO COMPANY / OWNER AND CREATIVE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Build a team that can deliver.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Founding artistic, product/program and brand functions are identified; appointments and capacity require agreement.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Executive producer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Experienced delivery, site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city interfaces; role open.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Collector + 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Qualified buyer development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and independent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cash/settlement control.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Professional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specialists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Code/access,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registrar/logistics, technical,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visitor, security and medical.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THE LUZZATTO COMPANY / OWNER AND CREATIVE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 good neighbor.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 controlled project.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857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reported construction period overlaps summer 2027. Availability must be established, not assumed.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190494"/>
            <a:ext cx="4096511" cy="4152137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190494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574542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Approved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946142"/>
            <a:ext cx="3584447" cy="21861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Actual footprint, occupancy,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egress, access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inspections.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3190494"/>
            <a:ext cx="4096511" cy="4152137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3190494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574542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Defined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946142"/>
            <a:ext cx="3584447" cy="21861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Tenants, contractors,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concourse ownership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possession.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3190494"/>
            <a:ext cx="4096511" cy="4152137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3190494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574542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Public accountability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946142"/>
            <a:ext cx="3584447" cy="21861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Paid artists, access, local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coordination and truthful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funding claims.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THE LUZZATTO COMPANY / OWNER AND CREATIVE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Six weeks to a useful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Proposed discovery structure; no full event commitment is requested at this stage.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3008376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Owner access, plans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and responsible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counterparts.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78808" y="2852928"/>
            <a:ext cx="3008376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2–3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Producer/code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review, market tests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and scope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alternatives.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43216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43216" y="2852928"/>
            <a:ext cx="3008376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8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4–5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Quotes, commercial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terms, cash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cancellation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analysis.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07624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07624" y="2852928"/>
            <a:ext cx="3008376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63656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63656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Joint proceed /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resize / relocate /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stop decision.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2344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FF5F"/>
                </a:solidFill>
                <a:latin typeface="Arial"/>
              </a:defRPr>
            </a:pPr>
            <a:r>
              <a:t>THE NEXT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418320" cy="2011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3F0E9"/>
                </a:solidFill>
                <a:latin typeface="Arial"/>
              </a:defRPr>
            </a:pPr>
            <a:r>
              <a:t>Authorize a bounded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3F0E9"/>
                </a:solidFill>
                <a:latin typeface="Arial"/>
              </a:defRPr>
            </a:pPr>
            <a:r>
              <a:t>investigation.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50184"/>
            <a:ext cx="96012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Next decision: nominate the owner counterpart, share the site/phasing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evidence and agree a funded discovery scope.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5958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25958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Explore an approved summer 2027 footprint.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9110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99110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Test waived rent, controlled services and defined profit participation.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72262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72262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Return with evidence before the owner commits to the event.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40253" y="3931920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40253" y="3931920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793268" y="3931920"/>
            <a:ext cx="58792" cy="14740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928178" y="4498848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928178" y="4498848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381194" y="4498848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28178" y="6707767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340253" y="6140839"/>
            <a:ext cx="1007872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3F0E9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THE LUZZATTO COMPANY / OWNER AND CREATIVE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The evidence and the conditions.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Current proposal, October 24, 2026. Site/date, funding, participants and capacities are unconfirmed.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80360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Click r:id="rId2"/>
          </p:cNvPr>
          <p:cNvSpPr txBox="1"/>
          <p:nvPr/>
        </p:nvSpPr>
        <p:spPr>
          <a:xfrm>
            <a:off x="1234440" y="2852928"/>
            <a:ext cx="12252960" cy="10035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Owner: denverenergycenter.com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02786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>
            <a:hlinkClick r:id="rId3"/>
          </p:cNvPr>
          <p:cNvSpPr txBox="1"/>
          <p:nvPr/>
        </p:nvSpPr>
        <p:spPr>
          <a:xfrm>
            <a:off x="1234440" y="3975354"/>
            <a:ext cx="12252960" cy="10035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Prior research: rental interview, construction reporting and High Fidelity event listing.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125212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1234440" y="5097779"/>
            <a:ext cx="12252960" cy="10035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Financial inputs and assumptions are reproducible in the document repository.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6247638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1234440" y="6220205"/>
            <a:ext cx="12252960" cy="10035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Original concept graphics; no third-party artwork or partner logos reused.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ALTITUDE — The Luzzatto Company / owner and creative leadership</dc:title>
  <dc:subject>Conditional proposal for review, October 24 2026</dc:subject>
  <dc:creator>Common Altitude planning</dc:creator>
  <cp:keywords/>
  <dc:description>generated using python-pptx</dc:description>
  <cp:lastModifiedBy>Common Altitude planning</cp:lastModifiedBy>
  <cp:revision>1</cp:revision>
  <dcterms:created xsi:type="dcterms:W3CDTF">2013-01-27T09:14:16Z</dcterms:created>
  <dcterms:modified xsi:type="dcterms:W3CDTF">2013-01-27T09:15:58Z</dcterms:modified>
  <cp:category/>
</cp:coreProperties>
</file>